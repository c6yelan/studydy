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77" r:id="rId4"/>
    <p:sldId id="278" r:id="rId5"/>
    <p:sldId id="279" r:id="rId6"/>
    <p:sldId id="369" r:id="rId7"/>
    <p:sldId id="280" r:id="rId8"/>
    <p:sldId id="370" r:id="rId9"/>
    <p:sldId id="371" r:id="rId10"/>
    <p:sldId id="349" r:id="rId11"/>
    <p:sldId id="372" r:id="rId12"/>
    <p:sldId id="373" r:id="rId13"/>
    <p:sldId id="375" r:id="rId14"/>
    <p:sldId id="377" r:id="rId15"/>
    <p:sldId id="378" r:id="rId16"/>
    <p:sldId id="379" r:id="rId17"/>
    <p:sldId id="380" r:id="rId18"/>
    <p:sldId id="374" r:id="rId19"/>
    <p:sldId id="381" r:id="rId20"/>
    <p:sldId id="382" r:id="rId21"/>
    <p:sldId id="275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7F7F7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20" autoAdjust="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33F7F-AB22-4CAD-A38B-9A3BF4E3BDB2}" type="datetimeFigureOut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4370C-A7B9-43C7-ADA0-12EFE951FA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555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FE0C0-FAD2-44DC-93ED-D91249DA6B81}" type="datetimeFigureOut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EAA57-45A1-49DE-8B12-52892EB2E5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302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EAA57-45A1-49DE-8B12-52892EB2E5A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741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042444" y="1122363"/>
            <a:ext cx="8625555" cy="2387600"/>
          </a:xfrm>
        </p:spPr>
        <p:txBody>
          <a:bodyPr anchor="b">
            <a:normAutofit/>
          </a:bodyPr>
          <a:lstStyle>
            <a:lvl1pPr algn="l">
              <a:defRPr sz="5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042444" y="3713135"/>
            <a:ext cx="8625555" cy="1655762"/>
          </a:xfrm>
        </p:spPr>
        <p:txBody>
          <a:bodyPr/>
          <a:lstStyle>
            <a:lvl1pPr marL="0" indent="0" algn="l">
              <a:buNone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E4E62-987D-43F0-B63F-D900445A8C38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504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6543675"/>
            <a:ext cx="9448800" cy="3143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9448799" y="6543675"/>
            <a:ext cx="2743202" cy="3143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83222" y="2661919"/>
            <a:ext cx="8625555" cy="1182659"/>
          </a:xfrm>
        </p:spPr>
        <p:txBody>
          <a:bodyPr anchor="b">
            <a:normAutofit/>
          </a:bodyPr>
          <a:lstStyle>
            <a:lvl1pPr algn="ctr">
              <a:defRPr sz="5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0" y="6572250"/>
            <a:ext cx="2743200" cy="285749"/>
          </a:xfrm>
        </p:spPr>
        <p:txBody>
          <a:bodyPr/>
          <a:lstStyle>
            <a:lvl1pPr>
              <a:defRPr lang="zh-TW" altLang="en-US" sz="1200" kern="120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fld id="{1B6E882C-BC5E-447B-99E5-DB8729D9F9D1}" type="datetime1">
              <a:rPr lang="zh-TW" altLang="en-US" smtClean="0"/>
              <a:t>2023/12/28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0" y="6572250"/>
            <a:ext cx="6705598" cy="285750"/>
          </a:xfrm>
        </p:spPr>
        <p:txBody>
          <a:bodyPr/>
          <a:lstStyle>
            <a:lvl1pPr marL="0" algn="ctr" defTabSz="914400" rtl="0" eaLnBrk="1" latinLnBrk="0" hangingPunct="1">
              <a:defRPr lang="zh-TW" altLang="en-US" sz="1200" kern="120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TW" altLang="en-US"/>
              <a:t>陣列與字串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448801" y="6572250"/>
            <a:ext cx="2743200" cy="285749"/>
          </a:xfrm>
        </p:spPr>
        <p:txBody>
          <a:bodyPr/>
          <a:lstStyle>
            <a:lvl1pPr>
              <a:defRPr lang="zh-TW" altLang="en-US" sz="1400" b="1" kern="120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fld id="{97CE07CD-923F-49ED-BD17-EE7421FBA797}" type="slidenum">
              <a:rPr lang="en-US" altLang="zh-TW" smtClean="0"/>
              <a:pPr/>
              <a:t>‹#›</a:t>
            </a:fld>
            <a:endParaRPr lang="en-US" dirty="0"/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1783222" y="3844579"/>
            <a:ext cx="862555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內容版面配置區 22"/>
          <p:cNvSpPr>
            <a:spLocks noGrp="1"/>
          </p:cNvSpPr>
          <p:nvPr>
            <p:ph sz="quarter" idx="13"/>
          </p:nvPr>
        </p:nvSpPr>
        <p:spPr>
          <a:xfrm>
            <a:off x="1783223" y="3939612"/>
            <a:ext cx="8626016" cy="546664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r">
              <a:lnSpc>
                <a:spcPct val="100000"/>
              </a:lnSpc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r">
              <a:lnSpc>
                <a:spcPct val="100000"/>
              </a:lnSpc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r">
              <a:lnSpc>
                <a:spcPct val="100000"/>
              </a:lnSpc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r">
              <a:lnSpc>
                <a:spcPct val="100000"/>
              </a:lnSpc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24" name="圖片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5939" y="0"/>
            <a:ext cx="646062" cy="4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9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448799" y="6543675"/>
            <a:ext cx="2743202" cy="3143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43675"/>
            <a:ext cx="9448800" cy="3143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8020" y="365125"/>
            <a:ext cx="10455780" cy="788557"/>
          </a:xfrm>
        </p:spPr>
        <p:txBody>
          <a:bodyPr>
            <a:normAutofit/>
          </a:bodyPr>
          <a:lstStyle>
            <a:lvl1pPr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81868"/>
            <a:ext cx="10515600" cy="4956561"/>
          </a:xfrm>
        </p:spPr>
        <p:txBody>
          <a:bodyPr>
            <a:noAutofit/>
          </a:bodyPr>
          <a:lstStyle>
            <a:lvl1pPr marL="228600" indent="-2286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lnSpc>
                <a:spcPct val="150000"/>
              </a:lnSpc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lnSpc>
                <a:spcPct val="150000"/>
              </a:lnSpc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lnSpc>
                <a:spcPct val="150000"/>
              </a:lnSpc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ct val="150000"/>
              </a:lnSpc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0" y="6573646"/>
            <a:ext cx="2743200" cy="26919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陣列與字串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448800" y="6573645"/>
            <a:ext cx="2743200" cy="269192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97CE07CD-923F-49ED-BD17-EE7421FBA79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838200" y="478564"/>
            <a:ext cx="59820" cy="5640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5939" y="0"/>
            <a:ext cx="646062" cy="4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5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AA1F1-D566-456E-BC94-829A09F07C0F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739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3618-5E38-4B64-B73B-1CE0D734FB2F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38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2AC4F-1EF5-4E4A-8D0B-2FAC0A535D0D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82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1867-A040-4404-9C88-3EC663CD8ADB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1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B59D-08A7-49BB-858C-3B8E6377B258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56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A2D-228F-4418-B446-B830F98AE8BE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53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824F-6B82-4E1E-B4BB-39F04BBA5D63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28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496D-F63A-44BA-9EDF-2B1F8B4954EE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0871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B073-71C5-4B9F-A132-B05C83A5667B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79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CC1CA-A949-44BC-8CE6-E005709A9B64}" type="datetime1">
              <a:rPr lang="zh-TW" altLang="en-US" smtClean="0"/>
              <a:t>2023/12/28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TW" altLang="en-US"/>
              <a:t>陣列與字串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E07CD-923F-49ED-BD17-EE7421FBA7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87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042444" y="2503487"/>
            <a:ext cx="9772328" cy="1006476"/>
          </a:xfrm>
        </p:spPr>
        <p:txBody>
          <a:bodyPr>
            <a:noAutofit/>
          </a:bodyPr>
          <a:lstStyle/>
          <a:p>
            <a:r>
              <a:rPr lang="zh-TW" altLang="en-US" sz="4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檔案處理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NUKIM</a:t>
            </a:r>
            <a:r>
              <a:rPr lang="zh-TW" altLang="en-US"/>
              <a:t> 程式設計</a:t>
            </a:r>
            <a:endParaRPr lang="en-US" altLang="zh-TW" dirty="0"/>
          </a:p>
          <a:p>
            <a:r>
              <a:rPr lang="zh-TW" altLang="en-US" dirty="0"/>
              <a:t>蕭漢威 教授</a:t>
            </a:r>
          </a:p>
        </p:txBody>
      </p:sp>
      <p:sp>
        <p:nvSpPr>
          <p:cNvPr id="11" name="矩形 10"/>
          <p:cNvSpPr/>
          <p:nvPr/>
        </p:nvSpPr>
        <p:spPr>
          <a:xfrm>
            <a:off x="1862982" y="2769870"/>
            <a:ext cx="179461" cy="74009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862982" y="3713136"/>
            <a:ext cx="179462" cy="79790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2179049" y="3621059"/>
            <a:ext cx="871528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780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本份教材大綱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學習檔案的觀念與操作的方式</a:t>
            </a:r>
            <a:endParaRPr lang="en-US" altLang="zh-TW" dirty="0"/>
          </a:p>
          <a:p>
            <a:r>
              <a:rPr lang="zh-TW" altLang="en-US" dirty="0"/>
              <a:t>有緩衝區與無緩衝區的檔案處理</a:t>
            </a:r>
            <a:endParaRPr lang="en-US" altLang="zh-TW" dirty="0"/>
          </a:p>
          <a:p>
            <a:r>
              <a:rPr lang="zh-TW" altLang="en-US" dirty="0"/>
              <a:t>學習文字檔案的使用方式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20-17D7-4451-8698-13455C96B948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</p:spTree>
    <p:extLst>
      <p:ext uri="{BB962C8B-B14F-4D97-AF65-F5344CB8AC3E}">
        <p14:creationId xmlns:p14="http://schemas.microsoft.com/office/powerpoint/2010/main" val="112553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檔案的分類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68110" y="1153682"/>
            <a:ext cx="10515600" cy="3066612"/>
          </a:xfrm>
        </p:spPr>
        <p:txBody>
          <a:bodyPr/>
          <a:lstStyle/>
          <a:p>
            <a:r>
              <a:rPr lang="zh-TW" altLang="en-US" dirty="0"/>
              <a:t>檔案依儲存方式，可分為文字檔與二進位檔 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檔  案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468" y="2055128"/>
            <a:ext cx="7727420" cy="3899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有緩衝區與無緩衝區的檔案處理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8020" y="1215134"/>
            <a:ext cx="3730424" cy="4956561"/>
          </a:xfrm>
        </p:spPr>
        <p:txBody>
          <a:bodyPr/>
          <a:lstStyle/>
          <a:p>
            <a:r>
              <a:rPr lang="zh-TW" altLang="en-US" dirty="0"/>
              <a:t>有緩衝區的檔案處理： </a:t>
            </a:r>
          </a:p>
          <a:p>
            <a:pPr marL="914400" lvl="1" indent="-457200">
              <a:buFont typeface="+mj-lt"/>
              <a:buAutoNum type="arabicPeriod"/>
            </a:pP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12" name="內容版面配置區 2"/>
          <p:cNvSpPr txBox="1">
            <a:spLocks/>
          </p:cNvSpPr>
          <p:nvPr/>
        </p:nvSpPr>
        <p:spPr>
          <a:xfrm>
            <a:off x="6548109" y="1215134"/>
            <a:ext cx="3730424" cy="4956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無緩衝區的檔案處理： </a:t>
            </a:r>
          </a:p>
          <a:p>
            <a:pPr marL="914400" lvl="1" indent="-457200">
              <a:buFont typeface="+mj-lt"/>
              <a:buAutoNum type="arabicPeriod"/>
            </a:pPr>
            <a:endParaRPr lang="zh-TW" altLang="en-US" dirty="0"/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89" y="2176639"/>
            <a:ext cx="4895850" cy="364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2306286"/>
            <a:ext cx="4111625" cy="243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</p:spTree>
    <p:extLst>
      <p:ext uri="{BB962C8B-B14F-4D97-AF65-F5344CB8AC3E}">
        <p14:creationId xmlns:p14="http://schemas.microsoft.com/office/powerpoint/2010/main" val="127951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000" y="1064315"/>
            <a:ext cx="10515600" cy="550932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sz="2600" dirty="0"/>
              <a:t>有緩衝區的檔案處理函數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600" dirty="0"/>
              <a:t>      </a:t>
            </a:r>
            <a:r>
              <a:rPr lang="en-US" altLang="zh-TW" sz="2600" dirty="0"/>
              <a:t>FILE *</a:t>
            </a:r>
            <a:r>
              <a:rPr lang="zh-TW" altLang="en-US" sz="2600" dirty="0"/>
              <a:t>指標變數</a:t>
            </a:r>
            <a:r>
              <a:rPr lang="en-US" altLang="zh-TW" sz="2600" dirty="0"/>
              <a:t>;    /* </a:t>
            </a:r>
            <a:r>
              <a:rPr lang="zh-TW" altLang="en-US" sz="2600" dirty="0"/>
              <a:t>宣告指向檔案的指標 *</a:t>
            </a:r>
            <a:r>
              <a:rPr lang="en-US" altLang="zh-TW" sz="260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600" dirty="0"/>
              <a:t>      </a:t>
            </a:r>
            <a:r>
              <a:rPr lang="en-US" altLang="zh-TW" sz="2600" dirty="0" err="1"/>
              <a:t>fopen</a:t>
            </a:r>
            <a:r>
              <a:rPr lang="en-US" altLang="zh-TW" sz="2600" dirty="0"/>
              <a:t>("</a:t>
            </a:r>
            <a:r>
              <a:rPr lang="zh-TW" altLang="en-US" sz="2600" dirty="0"/>
              <a:t>欲開啟檔案名稱</a:t>
            </a:r>
            <a:r>
              <a:rPr lang="en-US" altLang="zh-TW" sz="2600" dirty="0"/>
              <a:t>", "</a:t>
            </a:r>
            <a:r>
              <a:rPr lang="zh-TW" altLang="en-US" sz="2600" dirty="0"/>
              <a:t>存取模式</a:t>
            </a:r>
            <a:r>
              <a:rPr lang="en-US" altLang="zh-TW" sz="2600" dirty="0"/>
              <a:t>");</a:t>
            </a:r>
          </a:p>
          <a:p>
            <a:pPr>
              <a:lnSpc>
                <a:spcPct val="100000"/>
              </a:lnSpc>
            </a:pPr>
            <a:endParaRPr lang="zh-TW" altLang="en-US" sz="2600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  <a:spcAft>
                <a:spcPct val="40000"/>
              </a:spcAft>
            </a:pPr>
            <a:endParaRPr lang="en-US" altLang="zh-TW" sz="2600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檔案處理函數 </a:t>
            </a:r>
            <a:r>
              <a:rPr lang="en-US" altLang="zh-TW" dirty="0" err="1"/>
              <a:t>fopen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98" y="2825045"/>
            <a:ext cx="7058025" cy="3352800"/>
          </a:xfrm>
          <a:prstGeom prst="rect">
            <a:avLst/>
          </a:prstGeom>
        </p:spPr>
      </p:pic>
      <p:sp>
        <p:nvSpPr>
          <p:cNvPr id="1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</p:spTree>
    <p:extLst>
      <p:ext uri="{BB962C8B-B14F-4D97-AF65-F5344CB8AC3E}">
        <p14:creationId xmlns:p14="http://schemas.microsoft.com/office/powerpoint/2010/main" val="172510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000" y="1064315"/>
            <a:ext cx="10515600" cy="550932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dirty="0"/>
              <a:t>開啟檔案 </a:t>
            </a:r>
            <a:r>
              <a:rPr lang="en-US" altLang="zh-TW" dirty="0"/>
              <a:t>welcome.txt </a:t>
            </a:r>
            <a:r>
              <a:rPr lang="zh-TW" altLang="en-US" dirty="0"/>
              <a:t>以讀取資料：</a:t>
            </a:r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  <a:spcAft>
                <a:spcPct val="40000"/>
              </a:spcAft>
            </a:pPr>
            <a:endParaRPr lang="en-US" altLang="zh-TW" sz="2600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開啟檔案的範例</a:t>
            </a:r>
          </a:p>
        </p:txBody>
      </p:sp>
      <p:sp>
        <p:nvSpPr>
          <p:cNvPr id="1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992288" y="1512050"/>
            <a:ext cx="1026724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1pPr>
            <a:lvl2pPr marL="742950" indent="-285750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2pPr>
            <a:lvl3pPr marL="1143000" indent="-228600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3pPr>
            <a:lvl4pPr marL="1600200" indent="-2286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4pPr>
            <a:lvl5pPr marL="2057400" indent="-228600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FILE *</a:t>
            </a:r>
            <a:r>
              <a:rPr lang="en-US" altLang="zh-TW" sz="1800" b="1" dirty="0" err="1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b="1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	 /*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宣告指向檔案的指標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*/</a:t>
            </a:r>
          </a:p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b="1" dirty="0" err="1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fopen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(“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welcome.txt","r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");	 /*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開啟檔案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welcome.txt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以供讀取 *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</a:p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if(</a:t>
            </a:r>
            <a:r>
              <a:rPr lang="en-US" altLang="zh-TW" sz="1800" b="1" dirty="0" err="1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!=NULL)   		 /*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判別檔案是否開啟成功 *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</a:p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</a:p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/*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檔案開啟成功時，所要執行的程式碼 *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</a:p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</a:p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else</a:t>
            </a:r>
          </a:p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</a:p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/*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檔案開啟失敗時，所要執行的程式碼 *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</a:p>
          <a:p>
            <a:pPr eaLnBrk="1" hangingPunct="1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743932" y="5918213"/>
            <a:ext cx="10515600" cy="426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dirty="0"/>
              <a:t>NULL :</a:t>
            </a:r>
            <a:r>
              <a:rPr lang="zh-TW" altLang="en-US" dirty="0"/>
              <a:t>空指標，是一個已宣告但並未指向一個有效物件的指標</a:t>
            </a:r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  <a:spcAft>
                <a:spcPct val="40000"/>
              </a:spcAft>
            </a:pPr>
            <a:endParaRPr lang="en-US" altLang="zh-TW" sz="26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7666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69" y="1144608"/>
            <a:ext cx="9183419" cy="523418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開啟檔案範例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40410" y="5247690"/>
            <a:ext cx="1671323" cy="114017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>
                <a:solidFill>
                  <a:srgbClr val="FFFF00"/>
                </a:solidFill>
              </a:rPr>
              <a:t>EOF</a:t>
            </a:r>
            <a:r>
              <a:rPr lang="zh-TW" altLang="en-US" sz="1400" dirty="0">
                <a:solidFill>
                  <a:srgbClr val="FFFF00"/>
                </a:solidFill>
              </a:rPr>
              <a:t> </a:t>
            </a:r>
            <a:r>
              <a:rPr lang="en-US" altLang="zh-TW" sz="1400" dirty="0">
                <a:solidFill>
                  <a:srgbClr val="FFFF00"/>
                </a:solidFill>
              </a:rPr>
              <a:t>(End Of File)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solidFill>
                  <a:srgbClr val="FFFF00"/>
                </a:solidFill>
              </a:rPr>
              <a:t>文件末尾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</p:spTree>
    <p:extLst>
      <p:ext uri="{BB962C8B-B14F-4D97-AF65-F5344CB8AC3E}">
        <p14:creationId xmlns:p14="http://schemas.microsoft.com/office/powerpoint/2010/main" val="206326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000" y="1064315"/>
            <a:ext cx="10515600" cy="550932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sz="2600" dirty="0" err="1"/>
              <a:t>stdio.h</a:t>
            </a:r>
            <a:r>
              <a:rPr lang="en-US" altLang="zh-TW" sz="2600" dirty="0"/>
              <a:t> </a:t>
            </a:r>
            <a:r>
              <a:rPr lang="zh-TW" altLang="en-US" sz="2600" dirty="0"/>
              <a:t>標頭檔中所宣告的檔案處理函數：</a:t>
            </a:r>
          </a:p>
          <a:p>
            <a:pPr>
              <a:lnSpc>
                <a:spcPct val="100000"/>
              </a:lnSpc>
            </a:pPr>
            <a:endParaRPr lang="zh-TW" altLang="en-US" sz="2600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  <a:spcAft>
                <a:spcPct val="40000"/>
              </a:spcAft>
            </a:pPr>
            <a:endParaRPr lang="en-US" altLang="zh-TW" sz="2600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sp>
        <p:nvSpPr>
          <p:cNvPr id="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常用的檔案處理函數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1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94828"/>
            <a:ext cx="8540044" cy="471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83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000" y="1064315"/>
            <a:ext cx="10515600" cy="5509329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zh-TW" altLang="en-US" sz="2600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  <a:spcAft>
                <a:spcPct val="40000"/>
              </a:spcAft>
            </a:pPr>
            <a:endParaRPr lang="en-US" altLang="zh-TW" sz="2600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常用的檔案處理函數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1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45" y="1153682"/>
            <a:ext cx="7333722" cy="51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4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檔案拷貝的範例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68110" y="1153682"/>
            <a:ext cx="10515600" cy="4956561"/>
          </a:xfrm>
        </p:spPr>
        <p:txBody>
          <a:bodyPr/>
          <a:lstStyle/>
          <a:p>
            <a:r>
              <a:rPr lang="zh-TW" altLang="en-US" dirty="0"/>
              <a:t>同時開啟兩個檔案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22194"/>
            <a:ext cx="9014848" cy="485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20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附加到檔案範例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68110" y="1153682"/>
            <a:ext cx="10515600" cy="4956561"/>
          </a:xfrm>
        </p:spPr>
        <p:txBody>
          <a:bodyPr/>
          <a:lstStyle/>
          <a:p>
            <a:r>
              <a:rPr lang="zh-TW" altLang="en-US" dirty="0"/>
              <a:t>以 </a:t>
            </a:r>
            <a:r>
              <a:rPr lang="en-US" altLang="zh-TW" dirty="0" err="1"/>
              <a:t>fwrite</a:t>
            </a:r>
            <a:r>
              <a:rPr lang="en-US" altLang="zh-TW" dirty="0"/>
              <a:t> </a:t>
            </a:r>
            <a:r>
              <a:rPr lang="zh-TW" altLang="en-US" dirty="0"/>
              <a:t>方式寫入附加檔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423" y="1762900"/>
            <a:ext cx="7947376" cy="494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3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函數讀取檔案內容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03" y="1026240"/>
            <a:ext cx="10070394" cy="567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90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000" y="1064315"/>
            <a:ext cx="10515600" cy="5509329"/>
          </a:xfrm>
        </p:spPr>
        <p:txBody>
          <a:bodyPr/>
          <a:lstStyle/>
          <a:p>
            <a:r>
              <a:rPr lang="zh-TW" altLang="en-US" sz="2600" dirty="0"/>
              <a:t>使用</a:t>
            </a:r>
            <a:r>
              <a:rPr lang="en-US" altLang="zh-TW" sz="2600" dirty="0" err="1"/>
              <a:t>fopen</a:t>
            </a:r>
            <a:r>
              <a:rPr lang="en-US" altLang="zh-TW" sz="2600" dirty="0"/>
              <a:t>() </a:t>
            </a:r>
            <a:r>
              <a:rPr lang="zh-TW" altLang="en-US" sz="2600" dirty="0"/>
              <a:t>函數開啟二進位檔案時的存取模式： </a:t>
            </a:r>
          </a:p>
          <a:p>
            <a:pPr>
              <a:lnSpc>
                <a:spcPct val="100000"/>
              </a:lnSpc>
            </a:pPr>
            <a:endParaRPr lang="zh-TW" altLang="en-US" sz="2600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  <a:spcAft>
                <a:spcPct val="40000"/>
              </a:spcAft>
            </a:pPr>
            <a:endParaRPr lang="en-US" altLang="zh-TW" sz="2600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 err="1"/>
              <a:t>fopen</a:t>
            </a:r>
            <a:r>
              <a:rPr lang="en-US" altLang="zh-TW" dirty="0"/>
              <a:t>() </a:t>
            </a:r>
            <a:r>
              <a:rPr lang="zh-TW" altLang="en-US" dirty="0"/>
              <a:t>處理二進位檔</a:t>
            </a:r>
          </a:p>
        </p:txBody>
      </p:sp>
      <p:sp>
        <p:nvSpPr>
          <p:cNvPr id="1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67290"/>
            <a:ext cx="7781925" cy="2162175"/>
          </a:xfrm>
          <a:prstGeom prst="rect">
            <a:avLst/>
          </a:prstGeom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036941" y="4798308"/>
            <a:ext cx="4728859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1pPr>
            <a:lvl2pPr marL="742950" indent="-285750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2pPr>
            <a:lvl3pPr marL="1143000" indent="-228600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3pPr>
            <a:lvl4pPr marL="1600200" indent="-2286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4pPr>
            <a:lvl5pPr marL="2057400" indent="-228600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9pPr>
          </a:lstStyle>
          <a:p>
            <a:pPr eaLnBrk="1" hangingPunct="1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/*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開啟可供附加資料的二進位檔案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test.bin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*/</a:t>
            </a:r>
          </a:p>
          <a:p>
            <a:pPr eaLnBrk="1" hangingPunct="1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FILE *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		</a:t>
            </a:r>
          </a:p>
          <a:p>
            <a:pPr eaLnBrk="1" hangingPunct="1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fopen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("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test.bin","</a:t>
            </a:r>
            <a:r>
              <a:rPr lang="en-US" altLang="zh-TW" sz="1800" b="1" dirty="0" err="1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"); </a:t>
            </a:r>
          </a:p>
        </p:txBody>
      </p:sp>
    </p:spTree>
    <p:extLst>
      <p:ext uri="{BB962C8B-B14F-4D97-AF65-F5344CB8AC3E}">
        <p14:creationId xmlns:p14="http://schemas.microsoft.com/office/powerpoint/2010/main" val="423907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輸入資料到二進位檔案範例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68110" y="984349"/>
            <a:ext cx="10515600" cy="4956561"/>
          </a:xfrm>
        </p:spPr>
        <p:txBody>
          <a:bodyPr/>
          <a:lstStyle/>
          <a:p>
            <a:r>
              <a:rPr lang="zh-TW" altLang="en-US" dirty="0"/>
              <a:t>以 </a:t>
            </a:r>
            <a:r>
              <a:rPr lang="en-US" altLang="zh-TW" dirty="0" err="1"/>
              <a:t>fwrite</a:t>
            </a:r>
            <a:r>
              <a:rPr lang="en-US" altLang="zh-TW" dirty="0"/>
              <a:t> </a:t>
            </a:r>
            <a:r>
              <a:rPr lang="zh-TW" altLang="en-US" dirty="0"/>
              <a:t>方式寫入二進位檔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32" y="1649801"/>
            <a:ext cx="10614278" cy="50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0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讀取二進位檔案的內容範例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68110" y="984349"/>
            <a:ext cx="10515600" cy="4956561"/>
          </a:xfrm>
        </p:spPr>
        <p:txBody>
          <a:bodyPr/>
          <a:lstStyle/>
          <a:p>
            <a:r>
              <a:rPr lang="zh-TW" altLang="en-US" dirty="0"/>
              <a:t>以 </a:t>
            </a:r>
            <a:r>
              <a:rPr lang="en-US" altLang="zh-TW" dirty="0" err="1"/>
              <a:t>fread</a:t>
            </a:r>
            <a:r>
              <a:rPr lang="en-US" altLang="zh-TW" dirty="0"/>
              <a:t> </a:t>
            </a:r>
            <a:r>
              <a:rPr lang="zh-TW" altLang="en-US" dirty="0"/>
              <a:t>方式讀取二進位檔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466" y="1486107"/>
            <a:ext cx="8474075" cy="494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66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000" y="1064315"/>
            <a:ext cx="10515600" cy="5509329"/>
          </a:xfrm>
        </p:spPr>
        <p:txBody>
          <a:bodyPr/>
          <a:lstStyle/>
          <a:p>
            <a:r>
              <a:rPr lang="en-US" altLang="zh-TW" sz="2800" dirty="0" err="1"/>
              <a:t>fprintf</a:t>
            </a:r>
            <a:endParaRPr lang="en-US" altLang="zh-TW" sz="2800" dirty="0"/>
          </a:p>
          <a:p>
            <a:pPr lvl="1"/>
            <a:r>
              <a:rPr lang="en-US" altLang="zh-TW" sz="2400" dirty="0" err="1"/>
              <a:t>fprintf</a:t>
            </a:r>
            <a:r>
              <a:rPr lang="en-US" altLang="zh-TW" sz="2400" dirty="0"/>
              <a:t>() </a:t>
            </a:r>
            <a:r>
              <a:rPr lang="zh-TW" altLang="en-US" sz="2400" dirty="0"/>
              <a:t>是用來寫入檔案內容</a:t>
            </a:r>
            <a:endParaRPr lang="en-US" altLang="zh-TW" sz="2400" dirty="0"/>
          </a:p>
          <a:p>
            <a:pPr lvl="1"/>
            <a:r>
              <a:rPr lang="zh-TW" altLang="en-US" sz="2400" dirty="0"/>
              <a:t>與 </a:t>
            </a:r>
            <a:r>
              <a:rPr lang="en-US" altLang="zh-TW" sz="2400" dirty="0" err="1"/>
              <a:t>printf</a:t>
            </a:r>
            <a:r>
              <a:rPr lang="en-US" altLang="zh-TW" sz="2400" dirty="0"/>
              <a:t> </a:t>
            </a:r>
            <a:r>
              <a:rPr lang="zh-TW" altLang="en-US" sz="2400" dirty="0"/>
              <a:t>相似</a:t>
            </a:r>
            <a:endParaRPr lang="en-US" altLang="zh-TW" sz="2400" dirty="0"/>
          </a:p>
          <a:p>
            <a:pPr lvl="1"/>
            <a:r>
              <a:rPr lang="en-US" altLang="zh-TW" sz="2400" dirty="0"/>
              <a:t>Ex: </a:t>
            </a:r>
            <a:r>
              <a:rPr lang="en-US" altLang="zh-TW" sz="2400" dirty="0" err="1"/>
              <a:t>fprintf</a:t>
            </a:r>
            <a:r>
              <a:rPr lang="en-US" altLang="zh-TW" sz="2400" dirty="0"/>
              <a:t>(</a:t>
            </a:r>
            <a:r>
              <a:rPr lang="en-US" altLang="zh-TW" sz="2400" dirty="0" err="1"/>
              <a:t>fptr</a:t>
            </a:r>
            <a:r>
              <a:rPr lang="en-US" altLang="zh-TW" sz="2400" dirty="0"/>
              <a:t>,"</a:t>
            </a:r>
            <a:r>
              <a:rPr lang="zh-TW" altLang="en-US" sz="2400" dirty="0"/>
              <a:t>寫入第 </a:t>
            </a:r>
            <a:r>
              <a:rPr lang="en-US" altLang="zh-TW" sz="2400" dirty="0"/>
              <a:t>%d </a:t>
            </a:r>
            <a:r>
              <a:rPr lang="zh-TW" altLang="en-US" sz="2400" dirty="0"/>
              <a:t>字串 </a:t>
            </a:r>
            <a:r>
              <a:rPr lang="en-US" altLang="zh-TW" sz="2400" dirty="0"/>
              <a:t>:%s\n",</a:t>
            </a:r>
            <a:r>
              <a:rPr lang="en-US" altLang="zh-TW" sz="2400" dirty="0" err="1"/>
              <a:t>i,str</a:t>
            </a:r>
            <a:r>
              <a:rPr lang="en-US" altLang="zh-TW" sz="2400" dirty="0"/>
              <a:t>)</a:t>
            </a:r>
          </a:p>
          <a:p>
            <a:r>
              <a:rPr lang="en-US" altLang="zh-TW" sz="2800" dirty="0" err="1"/>
              <a:t>fscanf</a:t>
            </a:r>
            <a:endParaRPr lang="en-US" altLang="zh-TW" sz="2800" dirty="0"/>
          </a:p>
          <a:p>
            <a:pPr lvl="1"/>
            <a:r>
              <a:rPr lang="en-US" altLang="zh-TW" sz="2400" dirty="0" err="1"/>
              <a:t>fscanf</a:t>
            </a:r>
            <a:r>
              <a:rPr lang="en-US" altLang="zh-TW" sz="2400" dirty="0"/>
              <a:t>() </a:t>
            </a:r>
            <a:r>
              <a:rPr lang="zh-TW" altLang="en-US" sz="2400" dirty="0"/>
              <a:t>是用來讀取檔案內容</a:t>
            </a:r>
            <a:endParaRPr lang="en-US" altLang="zh-TW" sz="2400" dirty="0"/>
          </a:p>
          <a:p>
            <a:pPr lvl="1"/>
            <a:r>
              <a:rPr lang="zh-TW" altLang="en-US" sz="2400" dirty="0"/>
              <a:t>與 </a:t>
            </a:r>
            <a:r>
              <a:rPr lang="en-US" altLang="zh-TW" sz="2400" dirty="0" err="1"/>
              <a:t>scanf</a:t>
            </a:r>
            <a:r>
              <a:rPr lang="en-US" altLang="zh-TW" sz="2400" dirty="0"/>
              <a:t> </a:t>
            </a:r>
            <a:r>
              <a:rPr lang="zh-TW" altLang="en-US" sz="2400" dirty="0"/>
              <a:t>相似</a:t>
            </a:r>
            <a:endParaRPr lang="en-US" altLang="zh-TW" sz="2400" dirty="0"/>
          </a:p>
          <a:p>
            <a:pPr lvl="1"/>
            <a:r>
              <a:rPr lang="nl-NL" altLang="zh-TW" sz="2400" dirty="0"/>
              <a:t>Ex: fscanf(fptr,"%s %d %d",&amp;name,&amp;Math,&amp;C_Lang)</a:t>
            </a:r>
            <a:endParaRPr lang="en-US" altLang="zh-TW" sz="2400" dirty="0"/>
          </a:p>
          <a:p>
            <a:r>
              <a:rPr lang="zh-TW" altLang="en-US" sz="2600" dirty="0"/>
              <a:t> </a:t>
            </a:r>
          </a:p>
          <a:p>
            <a:pPr>
              <a:lnSpc>
                <a:spcPct val="100000"/>
              </a:lnSpc>
            </a:pPr>
            <a:endParaRPr lang="zh-TW" altLang="en-US" sz="2600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en-US" altLang="zh-TW" dirty="0"/>
          </a:p>
          <a:p>
            <a:pPr>
              <a:lnSpc>
                <a:spcPct val="100000"/>
              </a:lnSpc>
              <a:spcAft>
                <a:spcPct val="40000"/>
              </a:spcAft>
            </a:pPr>
            <a:endParaRPr lang="en-US" altLang="zh-TW" sz="2600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sp>
        <p:nvSpPr>
          <p:cNvPr id="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 err="1"/>
              <a:t>fprintf</a:t>
            </a:r>
            <a:r>
              <a:rPr lang="en-US" altLang="zh-TW" dirty="0"/>
              <a:t>, </a:t>
            </a:r>
            <a:r>
              <a:rPr lang="en-US" altLang="zh-TW" dirty="0" err="1"/>
              <a:t>fscanf</a:t>
            </a:r>
            <a:r>
              <a:rPr lang="en-US" altLang="zh-TW" dirty="0"/>
              <a:t> </a:t>
            </a:r>
            <a:r>
              <a:rPr lang="zh-TW" altLang="en-US" dirty="0"/>
              <a:t>寫入</a:t>
            </a:r>
            <a:r>
              <a:rPr lang="en-US" altLang="zh-TW" dirty="0"/>
              <a:t>,</a:t>
            </a:r>
            <a:r>
              <a:rPr lang="zh-TW" altLang="en-US" dirty="0"/>
              <a:t>讀取文字檔</a:t>
            </a:r>
          </a:p>
        </p:txBody>
      </p:sp>
      <p:sp>
        <p:nvSpPr>
          <p:cNvPr id="1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8112548" y="1461724"/>
            <a:ext cx="3548151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1pPr>
            <a:lvl2pPr marL="742950" indent="-285750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2pPr>
            <a:lvl3pPr marL="1143000" indent="-228600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3pPr>
            <a:lvl4pPr marL="1600200" indent="-2286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4pPr>
            <a:lvl5pPr marL="2057400" indent="-228600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9pPr>
          </a:lstStyle>
          <a:p>
            <a:pPr eaLnBrk="1" hangingPunct="1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FILE *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		</a:t>
            </a:r>
          </a:p>
          <a:p>
            <a:pPr eaLnBrk="1" hangingPunct="1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fopen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(“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Hello.txt",“</a:t>
            </a:r>
            <a:r>
              <a:rPr lang="en-US" altLang="zh-TW" sz="1800" b="1" dirty="0" err="1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");</a:t>
            </a:r>
          </a:p>
          <a:p>
            <a:pPr eaLnBrk="1" hangingPunct="1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fprintf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“</a:t>
            </a:r>
            <a:r>
              <a:rPr lang="en-US" altLang="zh-TW" sz="18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format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”, </a:t>
            </a:r>
            <a:r>
              <a:rPr lang="en-US" altLang="zh-TW" sz="1800" i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var</a:t>
            </a:r>
            <a:r>
              <a:rPr lang="en-US" altLang="zh-TW" sz="18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;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8112548" y="4089880"/>
            <a:ext cx="3719673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1pPr>
            <a:lvl2pPr marL="742950" indent="-285750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2pPr>
            <a:lvl3pPr marL="1143000" indent="-228600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3pPr>
            <a:lvl4pPr marL="1600200" indent="-2286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4pPr>
            <a:lvl5pPr marL="2057400" indent="-228600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9pPr>
          </a:lstStyle>
          <a:p>
            <a:pPr eaLnBrk="1" hangingPunct="1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FILE *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		</a:t>
            </a:r>
          </a:p>
          <a:p>
            <a:pPr eaLnBrk="1" hangingPunct="1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fopen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(“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Hello.txt",“</a:t>
            </a:r>
            <a:r>
              <a:rPr lang="en-US" altLang="zh-TW" sz="1800" b="1" dirty="0" err="1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");</a:t>
            </a:r>
          </a:p>
          <a:p>
            <a:pPr eaLnBrk="1" hangingPunct="1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fscanf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fptr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“</a:t>
            </a:r>
            <a:r>
              <a:rPr lang="en-US" altLang="zh-TW" sz="18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format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”, </a:t>
            </a:r>
            <a:r>
              <a:rPr lang="en-US" altLang="zh-TW" sz="18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en-US" altLang="zh-TW" sz="1800" i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var</a:t>
            </a:r>
            <a:r>
              <a:rPr lang="en-US" altLang="zh-TW" sz="18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70279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 err="1"/>
              <a:t>fprintf</a:t>
            </a:r>
            <a:r>
              <a:rPr lang="en-US" altLang="zh-TW" dirty="0"/>
              <a:t> 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8020" y="1056090"/>
            <a:ext cx="10515600" cy="4956561"/>
          </a:xfrm>
        </p:spPr>
        <p:txBody>
          <a:bodyPr/>
          <a:lstStyle/>
          <a:p>
            <a:r>
              <a:rPr lang="zh-TW" altLang="en-US" dirty="0"/>
              <a:t>可先以 </a:t>
            </a:r>
            <a:r>
              <a:rPr lang="en-US" altLang="zh-TW" dirty="0" err="1"/>
              <a:t>printf</a:t>
            </a:r>
            <a:r>
              <a:rPr lang="en-US" altLang="zh-TW" dirty="0"/>
              <a:t> </a:t>
            </a:r>
            <a:r>
              <a:rPr lang="zh-TW" altLang="en-US" dirty="0"/>
              <a:t>測試後再改寫成 </a:t>
            </a:r>
            <a:r>
              <a:rPr lang="en-US" altLang="zh-TW" dirty="0" err="1"/>
              <a:t>fprintf</a:t>
            </a:r>
            <a:r>
              <a:rPr lang="en-US" altLang="zh-TW" dirty="0"/>
              <a:t> </a:t>
            </a:r>
            <a:r>
              <a:rPr lang="zh-TW" altLang="en-US" dirty="0"/>
              <a:t>形式寫入文字讀案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3" y="1625706"/>
            <a:ext cx="7642578" cy="480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8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000" y="1064315"/>
            <a:ext cx="10515600" cy="550932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sz="2600" dirty="0"/>
              <a:t>直接讀取並判斷是否到 </a:t>
            </a:r>
            <a:r>
              <a:rPr lang="en-US" altLang="zh-TW" sz="2600" dirty="0"/>
              <a:t>EOF</a:t>
            </a:r>
            <a:endParaRPr lang="zh-TW" altLang="en-US" sz="2600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sp>
        <p:nvSpPr>
          <p:cNvPr id="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 err="1"/>
              <a:t>fscanf</a:t>
            </a:r>
            <a:r>
              <a:rPr lang="en-US" altLang="zh-TW" dirty="0"/>
              <a:t> </a:t>
            </a:r>
            <a:r>
              <a:rPr lang="zh-TW" altLang="en-US" dirty="0"/>
              <a:t>範例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1743075"/>
            <a:ext cx="8229600" cy="3981450"/>
          </a:xfrm>
          <a:prstGeom prst="rect">
            <a:avLst/>
          </a:prstGeom>
        </p:spPr>
      </p:pic>
      <p:sp>
        <p:nvSpPr>
          <p:cNvPr id="10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檔  案</a:t>
            </a:r>
          </a:p>
        </p:txBody>
      </p:sp>
    </p:spTree>
    <p:extLst>
      <p:ext uri="{BB962C8B-B14F-4D97-AF65-F5344CB8AC3E}">
        <p14:creationId xmlns:p14="http://schemas.microsoft.com/office/powerpoint/2010/main" val="2969072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利用檔案與結構陣列、指標的應用範例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87" y="1153682"/>
            <a:ext cx="7491413" cy="516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32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利用檔案與結構陣列、指標的應用範例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3CD1-E443-42C0-8906-21057471782B}" type="datetime1">
              <a:rPr lang="zh-TW" altLang="en-US" smtClean="0"/>
              <a:t>2023/12/28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陣列與字串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708" y="1311726"/>
            <a:ext cx="8076896" cy="480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47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/>
              <a:t>End of Lecture</a:t>
            </a:r>
            <a:endParaRPr lang="zh-TW" altLang="en-US" sz="440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EF63-3755-4217-98B1-BC48192DA260}" type="datetime1">
              <a:rPr lang="zh-TW" altLang="en-US" smtClean="0"/>
              <a:t>2023/12/28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E07CD-923F-49ED-BD17-EE7421FBA797}" type="slidenum">
              <a:rPr lang="en-US" altLang="zh-TW" smtClean="0"/>
              <a:pPr/>
              <a:t>21</a:t>
            </a:fld>
            <a:endParaRPr lang="en-US" dirty="0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743201" y="6573646"/>
            <a:ext cx="6705598" cy="269190"/>
          </a:xfrm>
        </p:spPr>
        <p:txBody>
          <a:bodyPr/>
          <a:lstStyle/>
          <a:p>
            <a:r>
              <a:rPr lang="zh-TW" altLang="en-US" dirty="0"/>
              <a:t>指  標</a:t>
            </a:r>
          </a:p>
        </p:txBody>
      </p:sp>
    </p:spTree>
    <p:extLst>
      <p:ext uri="{BB962C8B-B14F-4D97-AF65-F5344CB8AC3E}">
        <p14:creationId xmlns:p14="http://schemas.microsoft.com/office/powerpoint/2010/main" val="3546122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7903</TotalTime>
  <Words>628</Words>
  <Application>Microsoft Office PowerPoint</Application>
  <PresentationFormat>寬螢幕</PresentationFormat>
  <Paragraphs>159</Paragraphs>
  <Slides>21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微軟正黑體</vt:lpstr>
      <vt:lpstr>新細明體</vt:lpstr>
      <vt:lpstr>Arial</vt:lpstr>
      <vt:lpstr>Calibri</vt:lpstr>
      <vt:lpstr>Calibri Light</vt:lpstr>
      <vt:lpstr>Office 佈景主題</vt:lpstr>
      <vt:lpstr>檔案處理</vt:lpstr>
      <vt:lpstr>本份教材大綱</vt:lpstr>
      <vt:lpstr>檔案的分類</vt:lpstr>
      <vt:lpstr>有緩衝區與無緩衝區的檔案處理 </vt:lpstr>
      <vt:lpstr>檔案處理函數 fopen()</vt:lpstr>
      <vt:lpstr>開啟檔案的範例</vt:lpstr>
      <vt:lpstr>開啟檔案範例</vt:lpstr>
      <vt:lpstr>常用的檔案處理函數 (1/2)</vt:lpstr>
      <vt:lpstr>常用的檔案處理函數 (2/2)</vt:lpstr>
      <vt:lpstr>檔案拷貝的範例 </vt:lpstr>
      <vt:lpstr>附加到檔案範例 </vt:lpstr>
      <vt:lpstr>使用fread()函數讀取檔案內容</vt:lpstr>
      <vt:lpstr>使用 fopen() 處理二進位檔</vt:lpstr>
      <vt:lpstr>輸入資料到二進位檔案範例 </vt:lpstr>
      <vt:lpstr>讀取二進位檔案的內容範例 </vt:lpstr>
      <vt:lpstr>使用 fprintf, fscanf 寫入,讀取文字檔</vt:lpstr>
      <vt:lpstr>使用 fprintf 範例</vt:lpstr>
      <vt:lpstr>使用 fscanf 範例</vt:lpstr>
      <vt:lpstr>利用檔案與結構陣列、指標的應用範例(1/2)</vt:lpstr>
      <vt:lpstr>利用檔案與結構陣列、指標的應用範例(2/2)</vt:lpstr>
      <vt:lpstr>End of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蕭漢威</cp:lastModifiedBy>
  <cp:revision>472</cp:revision>
  <dcterms:created xsi:type="dcterms:W3CDTF">2021-08-12T08:51:01Z</dcterms:created>
  <dcterms:modified xsi:type="dcterms:W3CDTF">2023-12-28T00:56:38Z</dcterms:modified>
</cp:coreProperties>
</file>